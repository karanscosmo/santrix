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Poppins Light"/>
      <p:regular r:id="rId15"/>
      <p:bold r:id="rId16"/>
      <p:italic r:id="rId17"/>
      <p:boldItalic r:id="rId18"/>
    </p:embeddedFont>
    <p:embeddedFont>
      <p:font typeface="Roboto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Light-bold.fntdata"/><Relationship Id="rId11" Type="http://schemas.openxmlformats.org/officeDocument/2006/relationships/slide" Target="slides/slide7.xml"/><Relationship Id="rId22" Type="http://schemas.openxmlformats.org/officeDocument/2006/relationships/font" Target="fonts/RobotoLight-boldItalic.fntdata"/><Relationship Id="rId10" Type="http://schemas.openxmlformats.org/officeDocument/2006/relationships/slide" Target="slides/slide6.xml"/><Relationship Id="rId21" Type="http://schemas.openxmlformats.org/officeDocument/2006/relationships/font" Target="fonts/RobotoLight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oppinsLight-regular.fntdata"/><Relationship Id="rId14" Type="http://schemas.openxmlformats.org/officeDocument/2006/relationships/slide" Target="slides/slide10.xml"/><Relationship Id="rId17" Type="http://schemas.openxmlformats.org/officeDocument/2006/relationships/font" Target="fonts/PoppinsLight-italic.fntdata"/><Relationship Id="rId16" Type="http://schemas.openxmlformats.org/officeDocument/2006/relationships/font" Target="fonts/PoppinsLight-bold.fntdata"/><Relationship Id="rId5" Type="http://schemas.openxmlformats.org/officeDocument/2006/relationships/slide" Target="slides/slide1.xml"/><Relationship Id="rId19" Type="http://schemas.openxmlformats.org/officeDocument/2006/relationships/font" Target="fonts/RobotoLight-regular.fntdata"/><Relationship Id="rId6" Type="http://schemas.openxmlformats.org/officeDocument/2006/relationships/slide" Target="slides/slide2.xml"/><Relationship Id="rId18" Type="http://schemas.openxmlformats.org/officeDocument/2006/relationships/font" Target="fonts/PoppinsLigh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" name="Google Shape;12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" name="Google Shape;15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" name="Google Shape;24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9" Type="http://schemas.openxmlformats.org/officeDocument/2006/relationships/image" Target="../media/image21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" name="Google Shape;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3"/>
          <p:cNvSpPr/>
          <p:nvPr/>
        </p:nvSpPr>
        <p:spPr>
          <a:xfrm>
            <a:off x="496119" y="1471389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750"/>
              <a:buFont typeface="Poppins Light"/>
              <a:buNone/>
            </a:pPr>
            <a:r>
              <a:rPr b="0" i="0" lang="en-US" sz="27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SANKTRIX</a:t>
            </a:r>
            <a:endParaRPr b="0" i="0" sz="2750" u="none" cap="none" strike="noStrike"/>
          </a:p>
        </p:txBody>
      </p:sp>
      <p:sp>
        <p:nvSpPr>
          <p:cNvPr id="48" name="Google Shape;48;p13"/>
          <p:cNvSpPr/>
          <p:nvPr/>
        </p:nvSpPr>
        <p:spPr>
          <a:xfrm>
            <a:off x="496119" y="2126977"/>
            <a:ext cx="4036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Autonomous Computational Intelligence Platform</a:t>
            </a:r>
            <a:endParaRPr b="0" i="0" sz="1100" u="none" cap="none" strike="noStrike"/>
          </a:p>
        </p:txBody>
      </p:sp>
      <p:sp>
        <p:nvSpPr>
          <p:cNvPr id="49" name="Google Shape;49;p13"/>
          <p:cNvSpPr/>
          <p:nvPr/>
        </p:nvSpPr>
        <p:spPr>
          <a:xfrm>
            <a:off x="708720" y="2672730"/>
            <a:ext cx="336716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"An AI-native operating system for strategic business intelligence."</a:t>
            </a:r>
            <a:endParaRPr b="0" i="0" sz="1100" u="none" cap="none" strike="noStrike"/>
          </a:p>
        </p:txBody>
      </p:sp>
      <p:sp>
        <p:nvSpPr>
          <p:cNvPr id="50" name="Google Shape;50;p13"/>
          <p:cNvSpPr/>
          <p:nvPr/>
        </p:nvSpPr>
        <p:spPr>
          <a:xfrm>
            <a:off x="496119" y="2513261"/>
            <a:ext cx="19050" cy="772567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3"/>
          <p:cNvSpPr/>
          <p:nvPr/>
        </p:nvSpPr>
        <p:spPr>
          <a:xfrm>
            <a:off x="496119" y="3445297"/>
            <a:ext cx="4036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Built by </a:t>
            </a:r>
            <a:r>
              <a:rPr b="1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Karan A Sharma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1480" y="84683"/>
            <a:ext cx="3316039" cy="497405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/>
          <p:nvPr/>
        </p:nvSpPr>
        <p:spPr>
          <a:xfrm>
            <a:off x="395362" y="313804"/>
            <a:ext cx="4924276" cy="705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Businesses Have Data. But They Lack Intelligence.</a:t>
            </a:r>
            <a:endParaRPr b="0" i="0" sz="2200" u="none" cap="none" strike="noStrike"/>
          </a:p>
        </p:txBody>
      </p:sp>
      <p:sp>
        <p:nvSpPr>
          <p:cNvPr id="60" name="Google Shape;60;p14"/>
          <p:cNvSpPr/>
          <p:nvPr/>
        </p:nvSpPr>
        <p:spPr>
          <a:xfrm>
            <a:off x="395362" y="1154683"/>
            <a:ext cx="4924276" cy="324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Modern enterprises drown in tools yet starve for strategic reasoning. Traditional BI visualizes — it does not think.</a:t>
            </a:r>
            <a:endParaRPr b="0" i="0" sz="850" u="none" cap="none" strike="noStrike"/>
          </a:p>
        </p:txBody>
      </p:sp>
      <p:sp>
        <p:nvSpPr>
          <p:cNvPr id="61" name="Google Shape;61;p14"/>
          <p:cNvSpPr/>
          <p:nvPr/>
        </p:nvSpPr>
        <p:spPr>
          <a:xfrm>
            <a:off x="395362" y="1580629"/>
            <a:ext cx="4924276" cy="628278"/>
          </a:xfrm>
          <a:prstGeom prst="roundRect">
            <a:avLst>
              <a:gd fmla="val 7552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513085" y="1698352"/>
            <a:ext cx="14120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Poppins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Fragmented Tools</a:t>
            </a:r>
            <a:endParaRPr b="0" i="0" sz="1100" u="none" cap="none" strike="noStrike"/>
          </a:p>
        </p:txBody>
      </p:sp>
      <p:sp>
        <p:nvSpPr>
          <p:cNvPr id="63" name="Google Shape;63;p14"/>
          <p:cNvSpPr/>
          <p:nvPr/>
        </p:nvSpPr>
        <p:spPr>
          <a:xfrm>
            <a:off x="513085" y="1928813"/>
            <a:ext cx="4688830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Siloed SaaS platforms with no shared intelligence layer</a:t>
            </a:r>
            <a:endParaRPr b="0" i="0" sz="850" u="none" cap="none" strike="noStrike"/>
          </a:p>
        </p:txBody>
      </p:sp>
      <p:sp>
        <p:nvSpPr>
          <p:cNvPr id="64" name="Google Shape;64;p14"/>
          <p:cNvSpPr/>
          <p:nvPr/>
        </p:nvSpPr>
        <p:spPr>
          <a:xfrm>
            <a:off x="395362" y="2298874"/>
            <a:ext cx="4924276" cy="628278"/>
          </a:xfrm>
          <a:prstGeom prst="roundRect">
            <a:avLst>
              <a:gd fmla="val 7552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513085" y="2416597"/>
            <a:ext cx="14120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Poppins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Delayed Decisions</a:t>
            </a:r>
            <a:endParaRPr b="0" i="0" sz="1100" u="none" cap="none" strike="noStrike"/>
          </a:p>
        </p:txBody>
      </p:sp>
      <p:sp>
        <p:nvSpPr>
          <p:cNvPr id="66" name="Google Shape;66;p14"/>
          <p:cNvSpPr/>
          <p:nvPr/>
        </p:nvSpPr>
        <p:spPr>
          <a:xfrm>
            <a:off x="513085" y="2647057"/>
            <a:ext cx="4688830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Static reports arrive too late to prevent costly mistakes</a:t>
            </a:r>
            <a:endParaRPr b="0" i="0" sz="85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395362" y="3017118"/>
            <a:ext cx="4924276" cy="628278"/>
          </a:xfrm>
          <a:prstGeom prst="roundRect">
            <a:avLst>
              <a:gd fmla="val 7552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513085" y="3134841"/>
            <a:ext cx="14120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Poppins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Reactive Analytics</a:t>
            </a:r>
            <a:endParaRPr b="0" i="0" sz="1100" u="none" cap="none" strike="noStrike"/>
          </a:p>
        </p:txBody>
      </p:sp>
      <p:sp>
        <p:nvSpPr>
          <p:cNvPr id="69" name="Google Shape;69;p14"/>
          <p:cNvSpPr/>
          <p:nvPr/>
        </p:nvSpPr>
        <p:spPr>
          <a:xfrm>
            <a:off x="513085" y="3365302"/>
            <a:ext cx="4688830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Traditional BI shows what happened — never what's coming</a:t>
            </a:r>
            <a:endParaRPr b="0" i="0" sz="85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395362" y="3735363"/>
            <a:ext cx="4924276" cy="628278"/>
          </a:xfrm>
          <a:prstGeom prst="roundRect">
            <a:avLst>
              <a:gd fmla="val 7552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513085" y="3853086"/>
            <a:ext cx="1898228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Poppins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No Autonomous Reasoning</a:t>
            </a:r>
            <a:endParaRPr b="0" i="0" sz="110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513085" y="4083546"/>
            <a:ext cx="4688830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No software truly thinks strategically on behalf of executives</a:t>
            </a:r>
            <a:endParaRPr b="0" i="0" sz="85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564803" y="4566047"/>
            <a:ext cx="5212035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"Current business software shows information. It does not think."</a:t>
            </a:r>
            <a:endParaRPr b="0" i="0" sz="85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395362" y="4464844"/>
            <a:ext cx="14288" cy="364778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465162" y="476176"/>
            <a:ext cx="3779862" cy="4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600"/>
              <a:buFont typeface="Poppins Light"/>
              <a:buNone/>
            </a:pPr>
            <a:r>
              <a:rPr b="0" i="0" lang="en-US" sz="26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Meet Sanktrix</a:t>
            </a:r>
            <a:endParaRPr b="0" i="0" sz="2600" u="none" cap="none" strike="noStrike"/>
          </a:p>
        </p:txBody>
      </p:sp>
      <p:sp>
        <p:nvSpPr>
          <p:cNvPr id="81" name="Google Shape;81;p15"/>
          <p:cNvSpPr/>
          <p:nvPr/>
        </p:nvSpPr>
        <p:spPr>
          <a:xfrm>
            <a:off x="465162" y="1140619"/>
            <a:ext cx="8670875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An autonomous computational intelligence system that continuously thinks, predicts, simulates, optimizes, and recommends — in real time.</a:t>
            </a:r>
            <a:endParaRPr b="0" i="0" sz="1000" u="none" cap="none" strike="noStrike"/>
          </a:p>
        </p:txBody>
      </p:sp>
      <p:pic>
        <p:nvPicPr>
          <p:cNvPr descr="preencoded.png" id="82" name="Google Shape;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162" y="1745010"/>
            <a:ext cx="2664023" cy="2664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7879" y="1630933"/>
            <a:ext cx="199355" cy="19935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/>
          <p:nvPr/>
        </p:nvSpPr>
        <p:spPr>
          <a:xfrm>
            <a:off x="3889995" y="1626840"/>
            <a:ext cx="242582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Poppins Light"/>
              <a:buNone/>
            </a:pPr>
            <a:r>
              <a:rPr b="0" i="0" lang="en-US" sz="13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Autonomous Business Agents</a:t>
            </a:r>
            <a:endParaRPr b="0" i="0" sz="1300" u="none" cap="none" strike="noStrike"/>
          </a:p>
        </p:txBody>
      </p:sp>
      <p:sp>
        <p:nvSpPr>
          <p:cNvPr id="85" name="Google Shape;85;p15"/>
          <p:cNvSpPr/>
          <p:nvPr/>
        </p:nvSpPr>
        <p:spPr>
          <a:xfrm>
            <a:off x="3889995" y="1959099"/>
            <a:ext cx="4793531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Self-directed AI teams that reason, delegate, and execute</a:t>
            </a:r>
            <a:endParaRPr b="0" i="0" sz="1000" u="none" cap="none" strike="noStrike"/>
          </a:p>
        </p:txBody>
      </p:sp>
      <p:pic>
        <p:nvPicPr>
          <p:cNvPr descr="preencoded.png" id="86" name="Google Shape;8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7879" y="2418308"/>
            <a:ext cx="199355" cy="19935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/>
          <p:nvPr/>
        </p:nvSpPr>
        <p:spPr>
          <a:xfrm>
            <a:off x="3889995" y="2414215"/>
            <a:ext cx="2498378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Poppins Light"/>
              <a:buNone/>
            </a:pPr>
            <a:r>
              <a:rPr b="0" i="0" lang="en-US" sz="13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Realtime Strategic Intelligence</a:t>
            </a:r>
            <a:endParaRPr b="0" i="0" sz="1300" u="none" cap="none" strike="noStrike"/>
          </a:p>
        </p:txBody>
      </p:sp>
      <p:sp>
        <p:nvSpPr>
          <p:cNvPr id="88" name="Google Shape;88;p15"/>
          <p:cNvSpPr/>
          <p:nvPr/>
        </p:nvSpPr>
        <p:spPr>
          <a:xfrm>
            <a:off x="3889995" y="2746474"/>
            <a:ext cx="4793531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Live anomaly detection, forecasting, and operational optimization</a:t>
            </a:r>
            <a:endParaRPr b="0" i="0" sz="1000" u="none" cap="none" strike="noStrike"/>
          </a:p>
        </p:txBody>
      </p:sp>
      <p:pic>
        <p:nvPicPr>
          <p:cNvPr descr="preencoded.png" id="89" name="Google Shape;8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7879" y="3205683"/>
            <a:ext cx="199355" cy="19935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/>
          <p:nvPr/>
        </p:nvSpPr>
        <p:spPr>
          <a:xfrm>
            <a:off x="3889995" y="3201591"/>
            <a:ext cx="1702147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Poppins Light"/>
              <a:buNone/>
            </a:pPr>
            <a:r>
              <a:rPr b="0" i="0" lang="en-US" sz="13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Business Simulations</a:t>
            </a:r>
            <a:endParaRPr b="0" i="0" sz="1300" u="none" cap="none" strike="noStrike"/>
          </a:p>
        </p:txBody>
      </p:sp>
      <p:sp>
        <p:nvSpPr>
          <p:cNvPr id="91" name="Google Shape;91;p15"/>
          <p:cNvSpPr/>
          <p:nvPr/>
        </p:nvSpPr>
        <p:spPr>
          <a:xfrm>
            <a:off x="3889995" y="3533849"/>
            <a:ext cx="4793531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Wolfram-powered predictive modeling and scenario analysis</a:t>
            </a:r>
            <a:endParaRPr b="0" i="0" sz="1000" u="none" cap="none" strike="noStrike"/>
          </a:p>
        </p:txBody>
      </p:sp>
      <p:pic>
        <p:nvPicPr>
          <p:cNvPr descr="preencoded.png" id="92" name="Google Shape;9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7879" y="3993059"/>
            <a:ext cx="199355" cy="19935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/>
          <p:nvPr/>
        </p:nvSpPr>
        <p:spPr>
          <a:xfrm>
            <a:off x="3889995" y="3988966"/>
            <a:ext cx="2609701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Poppins Light"/>
              <a:buNone/>
            </a:pPr>
            <a:r>
              <a:rPr b="0" i="0" lang="en-US" sz="13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Enterprise Workflow Automation</a:t>
            </a:r>
            <a:endParaRPr b="0" i="0" sz="1300" u="none" cap="none" strike="noStrike"/>
          </a:p>
        </p:txBody>
      </p:sp>
      <p:sp>
        <p:nvSpPr>
          <p:cNvPr id="94" name="Google Shape;94;p15"/>
          <p:cNvSpPr/>
          <p:nvPr/>
        </p:nvSpPr>
        <p:spPr>
          <a:xfrm>
            <a:off x="3889995" y="4321225"/>
            <a:ext cx="4793531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Event-driven pipelines that trigger autonomous actions</a:t>
            </a:r>
            <a:endParaRPr b="0" i="0" sz="1000" u="none" cap="none" strike="noStrike"/>
          </a:p>
        </p:txBody>
      </p:sp>
      <p:pic>
        <p:nvPicPr>
          <p:cNvPr id="95" name="Google Shape;95;p15" title="Screenshot 2026-05-25 at 11.07.54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2861" y="4716300"/>
            <a:ext cx="1649664" cy="41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1056605" y="288131"/>
            <a:ext cx="6641306" cy="318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Distributed Autonomous Intelligence Architecture</a:t>
            </a:r>
            <a:endParaRPr b="0" i="0" sz="2000" u="none" cap="none" strike="noStrike"/>
          </a:p>
        </p:txBody>
      </p:sp>
      <p:sp>
        <p:nvSpPr>
          <p:cNvPr id="102" name="Google Shape;102;p16"/>
          <p:cNvSpPr/>
          <p:nvPr/>
        </p:nvSpPr>
        <p:spPr>
          <a:xfrm>
            <a:off x="1056605" y="752921"/>
            <a:ext cx="7487915" cy="140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00"/>
              <a:buFont typeface="Roboto Light"/>
              <a:buNone/>
            </a:pPr>
            <a:r>
              <a:rPr b="0" i="0" lang="en-US" sz="8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Not a backend. A distributed intelligence operating system — with Wolfram computational intelligence at its core.</a:t>
            </a:r>
            <a:endParaRPr b="0" i="0" sz="800" u="none" cap="none" strike="noStrike"/>
          </a:p>
        </p:txBody>
      </p:sp>
      <p:pic>
        <p:nvPicPr>
          <p:cNvPr descr="preencoded.png"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605" y="975345"/>
            <a:ext cx="65532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6605" y="975345"/>
            <a:ext cx="65532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1056605" y="4715321"/>
            <a:ext cx="7487915" cy="140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00"/>
              <a:buFont typeface="Roboto Light"/>
              <a:buNone/>
            </a:pPr>
            <a:r>
              <a:rPr b="0" i="0" lang="en-US" sz="8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Every layer operates autonomously — ingesting, reasoning, simulating, and acting without human intervention.</a:t>
            </a:r>
            <a:endParaRPr b="0" i="0" sz="800" u="none" cap="none" strike="noStrike"/>
          </a:p>
        </p:txBody>
      </p:sp>
      <p:pic>
        <p:nvPicPr>
          <p:cNvPr id="106" name="Google Shape;106;p16" title="Screenshot 2026-05-25 at 11.07.54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4325" y="4809275"/>
            <a:ext cx="1649675" cy="3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/>
          <p:nvPr/>
        </p:nvSpPr>
        <p:spPr>
          <a:xfrm>
            <a:off x="496119" y="903461"/>
            <a:ext cx="8335342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750"/>
              <a:buFont typeface="Poppins Light"/>
              <a:buNone/>
            </a:pPr>
            <a:r>
              <a:rPr b="0" i="0" lang="en-US" sz="27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AI Agents That Operate Like Enterprise Teams</a:t>
            </a:r>
            <a:endParaRPr b="0" i="0" sz="2750" u="none" cap="none" strike="noStrike"/>
          </a:p>
        </p:txBody>
      </p:sp>
      <p:sp>
        <p:nvSpPr>
          <p:cNvPr id="113" name="Google Shape;113;p17"/>
          <p:cNvSpPr/>
          <p:nvPr/>
        </p:nvSpPr>
        <p:spPr>
          <a:xfrm>
            <a:off x="496119" y="1629966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From passive dashboards to autonomous enterprise reasoning. Agents communicate, delegate, and execute in concert.</a:t>
            </a:r>
            <a:endParaRPr b="0" i="0" sz="1100" u="none" cap="none" strike="noStrike"/>
          </a:p>
        </p:txBody>
      </p:sp>
      <p:pic>
        <p:nvPicPr>
          <p:cNvPr descr="preencoded.pn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016249"/>
            <a:ext cx="8382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/>
          <p:nvPr/>
        </p:nvSpPr>
        <p:spPr>
          <a:xfrm>
            <a:off x="496119" y="3031629"/>
            <a:ext cx="1905000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Finance Analyst Agent</a:t>
            </a:r>
            <a:endParaRPr b="0" i="0" sz="1350" u="none" cap="none" strike="noStrike"/>
          </a:p>
        </p:txBody>
      </p:sp>
      <p:sp>
        <p:nvSpPr>
          <p:cNvPr id="116" name="Google Shape;116;p17"/>
          <p:cNvSpPr/>
          <p:nvPr/>
        </p:nvSpPr>
        <p:spPr>
          <a:xfrm>
            <a:off x="496119" y="3559597"/>
            <a:ext cx="1905000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Monitors burn rate, margins, and financial anomalies in real time</a:t>
            </a:r>
            <a:endParaRPr b="0" i="0" sz="1100" u="none" cap="none" strike="noStrike"/>
          </a:p>
        </p:txBody>
      </p:sp>
      <p:pic>
        <p:nvPicPr>
          <p:cNvPr descr="preencoded.png" id="117" name="Google Shape;1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8298" y="2016249"/>
            <a:ext cx="8382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/>
          <p:nvPr/>
        </p:nvSpPr>
        <p:spPr>
          <a:xfrm>
            <a:off x="2578298" y="3031629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Forecasting Agent</a:t>
            </a:r>
            <a:endParaRPr b="0" i="0" sz="1350" u="none" cap="none" strike="noStrike"/>
          </a:p>
        </p:txBody>
      </p:sp>
      <p:sp>
        <p:nvSpPr>
          <p:cNvPr id="119" name="Google Shape;119;p17"/>
          <p:cNvSpPr/>
          <p:nvPr/>
        </p:nvSpPr>
        <p:spPr>
          <a:xfrm>
            <a:off x="2578298" y="3338140"/>
            <a:ext cx="190507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Runs probabilistic projections and scenario modeling autonomously</a:t>
            </a:r>
            <a:endParaRPr b="0" i="0" sz="1100" u="none" cap="none" strike="noStrike"/>
          </a:p>
        </p:txBody>
      </p:sp>
      <p:pic>
        <p:nvPicPr>
          <p:cNvPr descr="preencoded.png" id="120" name="Google Shape;12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0553" y="2016249"/>
            <a:ext cx="8382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/>
          <p:nvPr/>
        </p:nvSpPr>
        <p:spPr>
          <a:xfrm>
            <a:off x="4660553" y="3031629"/>
            <a:ext cx="180952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Risk Prediction Agent</a:t>
            </a:r>
            <a:endParaRPr b="0" i="0" sz="1350" u="none" cap="none" strike="noStrike"/>
          </a:p>
        </p:txBody>
      </p:sp>
      <p:sp>
        <p:nvSpPr>
          <p:cNvPr id="122" name="Google Shape;122;p17"/>
          <p:cNvSpPr/>
          <p:nvPr/>
        </p:nvSpPr>
        <p:spPr>
          <a:xfrm>
            <a:off x="4660553" y="3338140"/>
            <a:ext cx="190507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Detects operational and financial risk before it materializes</a:t>
            </a:r>
            <a:endParaRPr b="0" i="0" sz="1100" u="none" cap="none" strike="noStrike"/>
          </a:p>
        </p:txBody>
      </p:sp>
      <p:pic>
        <p:nvPicPr>
          <p:cNvPr descr="preencoded.png" id="123" name="Google Shape;12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42807" y="2016249"/>
            <a:ext cx="8382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/>
          <p:nvPr/>
        </p:nvSpPr>
        <p:spPr>
          <a:xfrm>
            <a:off x="6742807" y="3031629"/>
            <a:ext cx="190507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Executive Strategy Agent</a:t>
            </a:r>
            <a:endParaRPr b="0" i="0" sz="1350" u="none" cap="none" strike="noStrike"/>
          </a:p>
        </p:txBody>
      </p:sp>
      <p:sp>
        <p:nvSpPr>
          <p:cNvPr id="125" name="Google Shape;125;p17"/>
          <p:cNvSpPr/>
          <p:nvPr/>
        </p:nvSpPr>
        <p:spPr>
          <a:xfrm>
            <a:off x="6742807" y="3559597"/>
            <a:ext cx="190507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Synthesizes cross-domain intelligence into strategic recommendations</a:t>
            </a:r>
            <a:endParaRPr b="0" i="0" sz="1100" u="none" cap="none" strike="noStrike"/>
          </a:p>
        </p:txBody>
      </p:sp>
      <p:pic>
        <p:nvPicPr>
          <p:cNvPr id="126" name="Google Shape;126;p17" title="Screenshot 2026-05-25 at 11.07.54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94336" y="4728200"/>
            <a:ext cx="1649664" cy="41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/>
          <p:nvPr/>
        </p:nvSpPr>
        <p:spPr>
          <a:xfrm>
            <a:off x="465162" y="373559"/>
            <a:ext cx="7968630" cy="4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600"/>
              <a:buFont typeface="Poppins Light"/>
              <a:buNone/>
            </a:pPr>
            <a:r>
              <a:rPr b="0" i="0" lang="en-US" sz="26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Wolfram-Powered Business Simulation Engine</a:t>
            </a:r>
            <a:endParaRPr b="0" i="0" sz="2600" u="none" cap="none" strike="noStrike"/>
          </a:p>
        </p:txBody>
      </p:sp>
      <p:pic>
        <p:nvPicPr>
          <p:cNvPr descr="preencoded.png" id="133" name="Google Shape;1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162" y="1115839"/>
            <a:ext cx="2664023" cy="266402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/>
          <p:nvPr/>
        </p:nvSpPr>
        <p:spPr>
          <a:xfrm>
            <a:off x="3458096" y="1876871"/>
            <a:ext cx="5225430" cy="1141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Businesses no longer guess. They simulate. Sanktrix autonomously computes projections, models outcomes, and estimates probabilities using Wolfram's computational intelligence.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85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Powered by </a:t>
            </a:r>
            <a:r>
              <a:rPr b="1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Wolfram Language</a:t>
            </a: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, Monte Carlo simulations, symbolic computation, and probabilistic reasoning.</a:t>
            </a:r>
            <a:endParaRPr b="0" i="0" sz="1000" u="none" cap="none" strike="noStrike"/>
          </a:p>
        </p:txBody>
      </p:sp>
      <p:sp>
        <p:nvSpPr>
          <p:cNvPr id="135" name="Google Shape;135;p18"/>
          <p:cNvSpPr/>
          <p:nvPr/>
        </p:nvSpPr>
        <p:spPr>
          <a:xfrm>
            <a:off x="465162" y="4060106"/>
            <a:ext cx="2654796" cy="709761"/>
          </a:xfrm>
          <a:prstGeom prst="roundRect">
            <a:avLst>
              <a:gd fmla="val 9662" name="adj"/>
            </a:avLst>
          </a:prstGeom>
          <a:solidFill>
            <a:srgbClr val="050505"/>
          </a:solidFill>
          <a:ln cap="flat" cmpd="sng" w="1427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450875" y="4060106"/>
            <a:ext cx="57150" cy="709761"/>
          </a:xfrm>
          <a:prstGeom prst="roundRect">
            <a:avLst>
              <a:gd fmla="val 97674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655216" y="4207297"/>
            <a:ext cx="2317552" cy="415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Poppins Light"/>
              <a:buNone/>
            </a:pPr>
            <a:r>
              <a:rPr b="0" i="0" lang="en-US" sz="13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"What if CAC increases 25%?"</a:t>
            </a:r>
            <a:endParaRPr b="0" i="0" sz="1300" u="none" cap="none" strike="noStrike"/>
          </a:p>
        </p:txBody>
      </p:sp>
      <p:sp>
        <p:nvSpPr>
          <p:cNvPr id="138" name="Google Shape;138;p18"/>
          <p:cNvSpPr/>
          <p:nvPr/>
        </p:nvSpPr>
        <p:spPr>
          <a:xfrm>
            <a:off x="3244528" y="4060106"/>
            <a:ext cx="2654871" cy="709761"/>
          </a:xfrm>
          <a:prstGeom prst="roundRect">
            <a:avLst>
              <a:gd fmla="val 9662" name="adj"/>
            </a:avLst>
          </a:prstGeom>
          <a:solidFill>
            <a:srgbClr val="050505"/>
          </a:solidFill>
          <a:ln cap="flat" cmpd="sng" w="1427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3230240" y="4060106"/>
            <a:ext cx="57150" cy="709761"/>
          </a:xfrm>
          <a:prstGeom prst="roundRect">
            <a:avLst>
              <a:gd fmla="val 97674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3434581" y="4207297"/>
            <a:ext cx="2317626" cy="415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Poppins Light"/>
              <a:buNone/>
            </a:pPr>
            <a:r>
              <a:rPr b="0" i="0" lang="en-US" sz="13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"How will hiring affect runway?"</a:t>
            </a:r>
            <a:endParaRPr b="0" i="0" sz="1300" u="none" cap="none" strike="noStrike"/>
          </a:p>
        </p:txBody>
      </p:sp>
      <p:sp>
        <p:nvSpPr>
          <p:cNvPr id="141" name="Google Shape;141;p18"/>
          <p:cNvSpPr/>
          <p:nvPr/>
        </p:nvSpPr>
        <p:spPr>
          <a:xfrm>
            <a:off x="6023967" y="4060106"/>
            <a:ext cx="2654871" cy="709761"/>
          </a:xfrm>
          <a:prstGeom prst="roundRect">
            <a:avLst>
              <a:gd fmla="val 9662" name="adj"/>
            </a:avLst>
          </a:prstGeom>
          <a:solidFill>
            <a:srgbClr val="050505"/>
          </a:solidFill>
          <a:ln cap="flat" cmpd="sng" w="1427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6009680" y="4060106"/>
            <a:ext cx="57150" cy="709761"/>
          </a:xfrm>
          <a:prstGeom prst="roundRect">
            <a:avLst>
              <a:gd fmla="val 97674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6214021" y="4207297"/>
            <a:ext cx="2317626" cy="415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Poppins Light"/>
              <a:buNone/>
            </a:pPr>
            <a:r>
              <a:rPr b="0" i="0" lang="en-US" sz="13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"What happens if churn spikes next quarter?"</a:t>
            </a:r>
            <a:endParaRPr b="0" i="0" sz="1300" u="none" cap="none" strike="noStrike"/>
          </a:p>
        </p:txBody>
      </p:sp>
      <p:pic>
        <p:nvPicPr>
          <p:cNvPr id="144" name="Google Shape;144;p18" title="Screenshot 2026-05-25 at 11.07.5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4325" y="4809275"/>
            <a:ext cx="1649675" cy="3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465162" y="419546"/>
            <a:ext cx="4324201" cy="4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600"/>
              <a:buFont typeface="Poppins Light"/>
              <a:buNone/>
            </a:pPr>
            <a:r>
              <a:rPr b="0" i="0" lang="en-US" sz="26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Why Sanktrix Is Different</a:t>
            </a:r>
            <a:endParaRPr b="0" i="0" sz="2600" u="none" cap="none" strike="noStrike"/>
          </a:p>
        </p:txBody>
      </p:sp>
      <p:sp>
        <p:nvSpPr>
          <p:cNvPr id="151" name="Google Shape;151;p19"/>
          <p:cNvSpPr/>
          <p:nvPr/>
        </p:nvSpPr>
        <p:spPr>
          <a:xfrm>
            <a:off x="465162" y="1083990"/>
            <a:ext cx="8670875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Not analytics software. </a:t>
            </a:r>
            <a:r>
              <a:rPr b="1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Autonomous computational intelligence infrastructure.</a:t>
            </a:r>
            <a:endParaRPr b="0" i="0" sz="1000" u="none" cap="none" strike="noStrike"/>
          </a:p>
        </p:txBody>
      </p:sp>
      <p:sp>
        <p:nvSpPr>
          <p:cNvPr id="152" name="Google Shape;152;p19"/>
          <p:cNvSpPr/>
          <p:nvPr/>
        </p:nvSpPr>
        <p:spPr>
          <a:xfrm>
            <a:off x="465162" y="1430089"/>
            <a:ext cx="8213675" cy="3293864"/>
          </a:xfrm>
          <a:prstGeom prst="roundRect">
            <a:avLst>
              <a:gd fmla="val 1695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469925" y="1434852"/>
            <a:ext cx="8204150" cy="36492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602828" y="1514326"/>
            <a:ext cx="248617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1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Capability</a:t>
            </a:r>
            <a:endParaRPr b="0" i="0" sz="1000" u="none" cap="none" strike="noStrike"/>
          </a:p>
        </p:txBody>
      </p:sp>
      <p:sp>
        <p:nvSpPr>
          <p:cNvPr id="155" name="Google Shape;155;p19"/>
          <p:cNvSpPr/>
          <p:nvPr/>
        </p:nvSpPr>
        <p:spPr>
          <a:xfrm>
            <a:off x="2902372" y="1514326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1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Power BI</a:t>
            </a:r>
            <a:endParaRPr b="0" i="0" sz="1000" u="none" cap="none" strike="noStrike"/>
          </a:p>
        </p:txBody>
      </p:sp>
      <p:sp>
        <p:nvSpPr>
          <p:cNvPr id="156" name="Google Shape;156;p19"/>
          <p:cNvSpPr/>
          <p:nvPr/>
        </p:nvSpPr>
        <p:spPr>
          <a:xfrm>
            <a:off x="3886870" y="1514326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1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Tableau</a:t>
            </a:r>
            <a:endParaRPr b="0" i="0" sz="1000" u="none" cap="none" strike="noStrike"/>
          </a:p>
        </p:txBody>
      </p:sp>
      <p:sp>
        <p:nvSpPr>
          <p:cNvPr id="157" name="Google Shape;157;p19"/>
          <p:cNvSpPr/>
          <p:nvPr/>
        </p:nvSpPr>
        <p:spPr>
          <a:xfrm>
            <a:off x="4871368" y="1514326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1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ChatGPT</a:t>
            </a:r>
            <a:endParaRPr b="0" i="0" sz="1000" u="none" cap="none" strike="noStrike"/>
          </a:p>
        </p:txBody>
      </p:sp>
      <p:sp>
        <p:nvSpPr>
          <p:cNvPr id="158" name="Google Shape;158;p19"/>
          <p:cNvSpPr/>
          <p:nvPr/>
        </p:nvSpPr>
        <p:spPr>
          <a:xfrm>
            <a:off x="5855866" y="1514326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1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Notion AI</a:t>
            </a:r>
            <a:endParaRPr b="0" i="0" sz="1000" u="none" cap="none" strike="noStrike"/>
          </a:p>
        </p:txBody>
      </p:sp>
      <p:sp>
        <p:nvSpPr>
          <p:cNvPr id="159" name="Google Shape;159;p19"/>
          <p:cNvSpPr/>
          <p:nvPr/>
        </p:nvSpPr>
        <p:spPr>
          <a:xfrm>
            <a:off x="6840364" y="1514326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1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Palantir</a:t>
            </a:r>
            <a:endParaRPr b="0" i="0" sz="1000" u="none" cap="none" strike="noStrike"/>
          </a:p>
        </p:txBody>
      </p:sp>
      <p:sp>
        <p:nvSpPr>
          <p:cNvPr id="160" name="Google Shape;160;p19"/>
          <p:cNvSpPr/>
          <p:nvPr/>
        </p:nvSpPr>
        <p:spPr>
          <a:xfrm>
            <a:off x="7824862" y="1514326"/>
            <a:ext cx="1173510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1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Sanktrix</a:t>
            </a:r>
            <a:endParaRPr b="0" i="0" sz="1000" u="none" cap="none" strike="noStrike"/>
          </a:p>
        </p:txBody>
      </p:sp>
      <p:sp>
        <p:nvSpPr>
          <p:cNvPr id="161" name="Google Shape;161;p19"/>
          <p:cNvSpPr/>
          <p:nvPr/>
        </p:nvSpPr>
        <p:spPr>
          <a:xfrm>
            <a:off x="469925" y="1799779"/>
            <a:ext cx="8204150" cy="36492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602828" y="1879253"/>
            <a:ext cx="248617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Autonomous AI Agents</a:t>
            </a:r>
            <a:endParaRPr b="0" i="0" sz="1000" u="none" cap="none" strike="noStrike"/>
          </a:p>
        </p:txBody>
      </p:sp>
      <p:sp>
        <p:nvSpPr>
          <p:cNvPr id="163" name="Google Shape;163;p19"/>
          <p:cNvSpPr/>
          <p:nvPr/>
        </p:nvSpPr>
        <p:spPr>
          <a:xfrm>
            <a:off x="2902372" y="1879253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64" name="Google Shape;164;p19"/>
          <p:cNvSpPr/>
          <p:nvPr/>
        </p:nvSpPr>
        <p:spPr>
          <a:xfrm>
            <a:off x="3886870" y="1879253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65" name="Google Shape;165;p19"/>
          <p:cNvSpPr/>
          <p:nvPr/>
        </p:nvSpPr>
        <p:spPr>
          <a:xfrm>
            <a:off x="4871368" y="1879253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66" name="Google Shape;166;p19"/>
          <p:cNvSpPr/>
          <p:nvPr/>
        </p:nvSpPr>
        <p:spPr>
          <a:xfrm>
            <a:off x="5855866" y="1879253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67" name="Google Shape;167;p19"/>
          <p:cNvSpPr/>
          <p:nvPr/>
        </p:nvSpPr>
        <p:spPr>
          <a:xfrm>
            <a:off x="6840364" y="1879253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⚠️</a:t>
            </a:r>
            <a:endParaRPr b="0" i="0" sz="1000" u="none" cap="none" strike="noStrike"/>
          </a:p>
        </p:txBody>
      </p:sp>
      <p:sp>
        <p:nvSpPr>
          <p:cNvPr id="168" name="Google Shape;168;p19"/>
          <p:cNvSpPr/>
          <p:nvPr/>
        </p:nvSpPr>
        <p:spPr>
          <a:xfrm>
            <a:off x="7824862" y="1879253"/>
            <a:ext cx="1173510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✅</a:t>
            </a:r>
            <a:endParaRPr b="0" i="0" sz="1000" u="none" cap="none" strike="noStrike"/>
          </a:p>
        </p:txBody>
      </p:sp>
      <p:sp>
        <p:nvSpPr>
          <p:cNvPr id="169" name="Google Shape;169;p19"/>
          <p:cNvSpPr/>
          <p:nvPr/>
        </p:nvSpPr>
        <p:spPr>
          <a:xfrm>
            <a:off x="469925" y="2164705"/>
            <a:ext cx="8204150" cy="36492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602828" y="2244179"/>
            <a:ext cx="248617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Realtime Orchestration</a:t>
            </a:r>
            <a:endParaRPr b="0" i="0" sz="1000" u="none" cap="none" strike="noStrike"/>
          </a:p>
        </p:txBody>
      </p:sp>
      <p:sp>
        <p:nvSpPr>
          <p:cNvPr id="171" name="Google Shape;171;p19"/>
          <p:cNvSpPr/>
          <p:nvPr/>
        </p:nvSpPr>
        <p:spPr>
          <a:xfrm>
            <a:off x="2902372" y="2244179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72" name="Google Shape;172;p19"/>
          <p:cNvSpPr/>
          <p:nvPr/>
        </p:nvSpPr>
        <p:spPr>
          <a:xfrm>
            <a:off x="3886870" y="2244179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73" name="Google Shape;173;p19"/>
          <p:cNvSpPr/>
          <p:nvPr/>
        </p:nvSpPr>
        <p:spPr>
          <a:xfrm>
            <a:off x="4871368" y="2244179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74" name="Google Shape;174;p19"/>
          <p:cNvSpPr/>
          <p:nvPr/>
        </p:nvSpPr>
        <p:spPr>
          <a:xfrm>
            <a:off x="5855866" y="2244179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75" name="Google Shape;175;p19"/>
          <p:cNvSpPr/>
          <p:nvPr/>
        </p:nvSpPr>
        <p:spPr>
          <a:xfrm>
            <a:off x="6840364" y="2244179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⚠️</a:t>
            </a:r>
            <a:endParaRPr b="0" i="0" sz="1000" u="none" cap="none" strike="noStrike"/>
          </a:p>
        </p:txBody>
      </p:sp>
      <p:sp>
        <p:nvSpPr>
          <p:cNvPr id="176" name="Google Shape;176;p19"/>
          <p:cNvSpPr/>
          <p:nvPr/>
        </p:nvSpPr>
        <p:spPr>
          <a:xfrm>
            <a:off x="7824862" y="2244179"/>
            <a:ext cx="1173510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✅</a:t>
            </a:r>
            <a:endParaRPr b="0" i="0" sz="1000" u="none" cap="none" strike="noStrike"/>
          </a:p>
        </p:txBody>
      </p:sp>
      <p:sp>
        <p:nvSpPr>
          <p:cNvPr id="177" name="Google Shape;177;p19"/>
          <p:cNvSpPr/>
          <p:nvPr/>
        </p:nvSpPr>
        <p:spPr>
          <a:xfrm>
            <a:off x="469925" y="2529632"/>
            <a:ext cx="8204150" cy="36492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602828" y="2609106"/>
            <a:ext cx="248617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Workflow Automation</a:t>
            </a:r>
            <a:endParaRPr b="0" i="0" sz="1000" u="none" cap="none" strike="noStrike"/>
          </a:p>
        </p:txBody>
      </p:sp>
      <p:sp>
        <p:nvSpPr>
          <p:cNvPr id="179" name="Google Shape;179;p19"/>
          <p:cNvSpPr/>
          <p:nvPr/>
        </p:nvSpPr>
        <p:spPr>
          <a:xfrm>
            <a:off x="2902372" y="2609106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80" name="Google Shape;180;p19"/>
          <p:cNvSpPr/>
          <p:nvPr/>
        </p:nvSpPr>
        <p:spPr>
          <a:xfrm>
            <a:off x="3886870" y="2609106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81" name="Google Shape;181;p19"/>
          <p:cNvSpPr/>
          <p:nvPr/>
        </p:nvSpPr>
        <p:spPr>
          <a:xfrm>
            <a:off x="4871368" y="2609106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82" name="Google Shape;182;p19"/>
          <p:cNvSpPr/>
          <p:nvPr/>
        </p:nvSpPr>
        <p:spPr>
          <a:xfrm>
            <a:off x="5855866" y="2609106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83" name="Google Shape;183;p19"/>
          <p:cNvSpPr/>
          <p:nvPr/>
        </p:nvSpPr>
        <p:spPr>
          <a:xfrm>
            <a:off x="6840364" y="2609106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⚠️</a:t>
            </a:r>
            <a:endParaRPr b="0" i="0" sz="1000" u="none" cap="none" strike="noStrike"/>
          </a:p>
        </p:txBody>
      </p:sp>
      <p:sp>
        <p:nvSpPr>
          <p:cNvPr id="184" name="Google Shape;184;p19"/>
          <p:cNvSpPr/>
          <p:nvPr/>
        </p:nvSpPr>
        <p:spPr>
          <a:xfrm>
            <a:off x="7824862" y="2609106"/>
            <a:ext cx="1173510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✅</a:t>
            </a:r>
            <a:endParaRPr b="0" i="0" sz="1000" u="none" cap="none" strike="noStrike"/>
          </a:p>
        </p:txBody>
      </p:sp>
      <p:sp>
        <p:nvSpPr>
          <p:cNvPr id="185" name="Google Shape;185;p19"/>
          <p:cNvSpPr/>
          <p:nvPr/>
        </p:nvSpPr>
        <p:spPr>
          <a:xfrm>
            <a:off x="469925" y="2894558"/>
            <a:ext cx="8204150" cy="36492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602828" y="2974032"/>
            <a:ext cx="248617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Predictive Intelligence</a:t>
            </a:r>
            <a:endParaRPr b="0" i="0" sz="1000" u="none" cap="none" strike="noStrike"/>
          </a:p>
        </p:txBody>
      </p:sp>
      <p:sp>
        <p:nvSpPr>
          <p:cNvPr id="187" name="Google Shape;187;p19"/>
          <p:cNvSpPr/>
          <p:nvPr/>
        </p:nvSpPr>
        <p:spPr>
          <a:xfrm>
            <a:off x="2902372" y="2974032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⚠️</a:t>
            </a:r>
            <a:endParaRPr b="0" i="0" sz="1000" u="none" cap="none" strike="noStrike"/>
          </a:p>
        </p:txBody>
      </p:sp>
      <p:sp>
        <p:nvSpPr>
          <p:cNvPr id="188" name="Google Shape;188;p19"/>
          <p:cNvSpPr/>
          <p:nvPr/>
        </p:nvSpPr>
        <p:spPr>
          <a:xfrm>
            <a:off x="3886870" y="2974032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⚠️</a:t>
            </a:r>
            <a:endParaRPr b="0" i="0" sz="1000" u="none" cap="none" strike="noStrike"/>
          </a:p>
        </p:txBody>
      </p:sp>
      <p:sp>
        <p:nvSpPr>
          <p:cNvPr id="189" name="Google Shape;189;p19"/>
          <p:cNvSpPr/>
          <p:nvPr/>
        </p:nvSpPr>
        <p:spPr>
          <a:xfrm>
            <a:off x="4871368" y="2974032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90" name="Google Shape;190;p19"/>
          <p:cNvSpPr/>
          <p:nvPr/>
        </p:nvSpPr>
        <p:spPr>
          <a:xfrm>
            <a:off x="5855866" y="2974032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91" name="Google Shape;191;p19"/>
          <p:cNvSpPr/>
          <p:nvPr/>
        </p:nvSpPr>
        <p:spPr>
          <a:xfrm>
            <a:off x="6840364" y="2974032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✅</a:t>
            </a:r>
            <a:endParaRPr b="0" i="0" sz="1000" u="none" cap="none" strike="noStrike"/>
          </a:p>
        </p:txBody>
      </p:sp>
      <p:sp>
        <p:nvSpPr>
          <p:cNvPr id="192" name="Google Shape;192;p19"/>
          <p:cNvSpPr/>
          <p:nvPr/>
        </p:nvSpPr>
        <p:spPr>
          <a:xfrm>
            <a:off x="7824862" y="2974032"/>
            <a:ext cx="1173510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✅</a:t>
            </a:r>
            <a:endParaRPr b="0" i="0" sz="1000" u="none" cap="none" strike="noStrike"/>
          </a:p>
        </p:txBody>
      </p:sp>
      <p:sp>
        <p:nvSpPr>
          <p:cNvPr id="193" name="Google Shape;193;p19"/>
          <p:cNvSpPr/>
          <p:nvPr/>
        </p:nvSpPr>
        <p:spPr>
          <a:xfrm>
            <a:off x="469925" y="3259485"/>
            <a:ext cx="8204150" cy="36492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02828" y="3338959"/>
            <a:ext cx="248617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Business Simulations</a:t>
            </a:r>
            <a:endParaRPr b="0" i="0" sz="1000" u="none" cap="none" strike="noStrike"/>
          </a:p>
        </p:txBody>
      </p:sp>
      <p:sp>
        <p:nvSpPr>
          <p:cNvPr id="195" name="Google Shape;195;p19"/>
          <p:cNvSpPr/>
          <p:nvPr/>
        </p:nvSpPr>
        <p:spPr>
          <a:xfrm>
            <a:off x="2902372" y="3338959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96" name="Google Shape;196;p19"/>
          <p:cNvSpPr/>
          <p:nvPr/>
        </p:nvSpPr>
        <p:spPr>
          <a:xfrm>
            <a:off x="3886870" y="3338959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97" name="Google Shape;197;p19"/>
          <p:cNvSpPr/>
          <p:nvPr/>
        </p:nvSpPr>
        <p:spPr>
          <a:xfrm>
            <a:off x="4871368" y="3338959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98" name="Google Shape;198;p19"/>
          <p:cNvSpPr/>
          <p:nvPr/>
        </p:nvSpPr>
        <p:spPr>
          <a:xfrm>
            <a:off x="5855866" y="3338959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199" name="Google Shape;199;p19"/>
          <p:cNvSpPr/>
          <p:nvPr/>
        </p:nvSpPr>
        <p:spPr>
          <a:xfrm>
            <a:off x="6840364" y="3338959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⚠️</a:t>
            </a:r>
            <a:endParaRPr b="0" i="0" sz="1000" u="none" cap="none" strike="noStrike"/>
          </a:p>
        </p:txBody>
      </p:sp>
      <p:sp>
        <p:nvSpPr>
          <p:cNvPr id="200" name="Google Shape;200;p19"/>
          <p:cNvSpPr/>
          <p:nvPr/>
        </p:nvSpPr>
        <p:spPr>
          <a:xfrm>
            <a:off x="7824862" y="3338959"/>
            <a:ext cx="1173510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✅</a:t>
            </a:r>
            <a:endParaRPr b="0" i="0" sz="1000" u="none" cap="none" strike="noStrike"/>
          </a:p>
        </p:txBody>
      </p:sp>
      <p:sp>
        <p:nvSpPr>
          <p:cNvPr id="201" name="Google Shape;201;p19"/>
          <p:cNvSpPr/>
          <p:nvPr/>
        </p:nvSpPr>
        <p:spPr>
          <a:xfrm>
            <a:off x="469925" y="3624411"/>
            <a:ext cx="8204150" cy="36492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602828" y="3703886"/>
            <a:ext cx="248617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Computational Reasoning</a:t>
            </a:r>
            <a:endParaRPr b="0" i="0" sz="1000" u="none" cap="none" strike="noStrike"/>
          </a:p>
        </p:txBody>
      </p:sp>
      <p:sp>
        <p:nvSpPr>
          <p:cNvPr id="203" name="Google Shape;203;p19"/>
          <p:cNvSpPr/>
          <p:nvPr/>
        </p:nvSpPr>
        <p:spPr>
          <a:xfrm>
            <a:off x="2902372" y="3703886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204" name="Google Shape;204;p19"/>
          <p:cNvSpPr/>
          <p:nvPr/>
        </p:nvSpPr>
        <p:spPr>
          <a:xfrm>
            <a:off x="3886870" y="3703886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205" name="Google Shape;205;p19"/>
          <p:cNvSpPr/>
          <p:nvPr/>
        </p:nvSpPr>
        <p:spPr>
          <a:xfrm>
            <a:off x="4871368" y="3703886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206" name="Google Shape;206;p19"/>
          <p:cNvSpPr/>
          <p:nvPr/>
        </p:nvSpPr>
        <p:spPr>
          <a:xfrm>
            <a:off x="5855866" y="3703886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207" name="Google Shape;207;p19"/>
          <p:cNvSpPr/>
          <p:nvPr/>
        </p:nvSpPr>
        <p:spPr>
          <a:xfrm>
            <a:off x="6840364" y="3703886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✅</a:t>
            </a:r>
            <a:endParaRPr b="0" i="0" sz="1000" u="none" cap="none" strike="noStrike"/>
          </a:p>
        </p:txBody>
      </p:sp>
      <p:sp>
        <p:nvSpPr>
          <p:cNvPr id="208" name="Google Shape;208;p19"/>
          <p:cNvSpPr/>
          <p:nvPr/>
        </p:nvSpPr>
        <p:spPr>
          <a:xfrm>
            <a:off x="7824862" y="3703886"/>
            <a:ext cx="1173510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✅</a:t>
            </a:r>
            <a:endParaRPr b="0" i="0" sz="1000" u="none" cap="none" strike="noStrike"/>
          </a:p>
        </p:txBody>
      </p:sp>
      <p:sp>
        <p:nvSpPr>
          <p:cNvPr id="209" name="Google Shape;209;p19"/>
          <p:cNvSpPr/>
          <p:nvPr/>
        </p:nvSpPr>
        <p:spPr>
          <a:xfrm>
            <a:off x="469925" y="3989338"/>
            <a:ext cx="8204150" cy="36492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602828" y="4068812"/>
            <a:ext cx="248617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Wolfram Integration</a:t>
            </a:r>
            <a:endParaRPr b="0" i="0" sz="1000" u="none" cap="none" strike="noStrike"/>
          </a:p>
        </p:txBody>
      </p:sp>
      <p:sp>
        <p:nvSpPr>
          <p:cNvPr id="211" name="Google Shape;211;p19"/>
          <p:cNvSpPr/>
          <p:nvPr/>
        </p:nvSpPr>
        <p:spPr>
          <a:xfrm>
            <a:off x="2902372" y="4068812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212" name="Google Shape;212;p19"/>
          <p:cNvSpPr/>
          <p:nvPr/>
        </p:nvSpPr>
        <p:spPr>
          <a:xfrm>
            <a:off x="3886870" y="4068812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213" name="Google Shape;213;p19"/>
          <p:cNvSpPr/>
          <p:nvPr/>
        </p:nvSpPr>
        <p:spPr>
          <a:xfrm>
            <a:off x="4871368" y="4068812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214" name="Google Shape;214;p19"/>
          <p:cNvSpPr/>
          <p:nvPr/>
        </p:nvSpPr>
        <p:spPr>
          <a:xfrm>
            <a:off x="5855866" y="4068812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215" name="Google Shape;215;p19"/>
          <p:cNvSpPr/>
          <p:nvPr/>
        </p:nvSpPr>
        <p:spPr>
          <a:xfrm>
            <a:off x="6840364" y="4068812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216" name="Google Shape;216;p19"/>
          <p:cNvSpPr/>
          <p:nvPr/>
        </p:nvSpPr>
        <p:spPr>
          <a:xfrm>
            <a:off x="7824862" y="4068812"/>
            <a:ext cx="1173510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✅</a:t>
            </a:r>
            <a:endParaRPr b="0" i="0" sz="1000" u="none" cap="none" strike="noStrike"/>
          </a:p>
        </p:txBody>
      </p:sp>
      <p:sp>
        <p:nvSpPr>
          <p:cNvPr id="217" name="Google Shape;217;p19"/>
          <p:cNvSpPr/>
          <p:nvPr/>
        </p:nvSpPr>
        <p:spPr>
          <a:xfrm>
            <a:off x="469925" y="4354264"/>
            <a:ext cx="8204150" cy="36492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602828" y="4433739"/>
            <a:ext cx="248617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Autonomous Execution</a:t>
            </a:r>
            <a:endParaRPr b="0" i="0" sz="1000" u="none" cap="none" strike="noStrike"/>
          </a:p>
        </p:txBody>
      </p:sp>
      <p:sp>
        <p:nvSpPr>
          <p:cNvPr id="219" name="Google Shape;219;p19"/>
          <p:cNvSpPr/>
          <p:nvPr/>
        </p:nvSpPr>
        <p:spPr>
          <a:xfrm>
            <a:off x="2902372" y="4433739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220" name="Google Shape;220;p19"/>
          <p:cNvSpPr/>
          <p:nvPr/>
        </p:nvSpPr>
        <p:spPr>
          <a:xfrm>
            <a:off x="3886870" y="4433739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221" name="Google Shape;221;p19"/>
          <p:cNvSpPr/>
          <p:nvPr/>
        </p:nvSpPr>
        <p:spPr>
          <a:xfrm>
            <a:off x="4871368" y="4433739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222" name="Google Shape;222;p19"/>
          <p:cNvSpPr/>
          <p:nvPr/>
        </p:nvSpPr>
        <p:spPr>
          <a:xfrm>
            <a:off x="5855866" y="4433739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❌</a:t>
            </a:r>
            <a:endParaRPr b="0" i="0" sz="1000" u="none" cap="none" strike="noStrike"/>
          </a:p>
        </p:txBody>
      </p:sp>
      <p:sp>
        <p:nvSpPr>
          <p:cNvPr id="223" name="Google Shape;223;p19"/>
          <p:cNvSpPr/>
          <p:nvPr/>
        </p:nvSpPr>
        <p:spPr>
          <a:xfrm>
            <a:off x="6840364" y="4433739"/>
            <a:ext cx="1171129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⚠️</a:t>
            </a:r>
            <a:endParaRPr b="0" i="0" sz="1000" u="none" cap="none" strike="noStrike"/>
          </a:p>
        </p:txBody>
      </p:sp>
      <p:sp>
        <p:nvSpPr>
          <p:cNvPr id="224" name="Google Shape;224;p19"/>
          <p:cNvSpPr/>
          <p:nvPr/>
        </p:nvSpPr>
        <p:spPr>
          <a:xfrm>
            <a:off x="7824862" y="4433739"/>
            <a:ext cx="1173510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✅</a:t>
            </a:r>
            <a:endParaRPr b="0" i="0" sz="1000" u="none" cap="none" strike="noStrike"/>
          </a:p>
        </p:txBody>
      </p:sp>
      <p:pic>
        <p:nvPicPr>
          <p:cNvPr id="225" name="Google Shape;225;p19" title="Screenshot 2026-05-25 at 11.07.5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4325" y="4809275"/>
            <a:ext cx="1649675" cy="3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/>
          <p:nvPr/>
        </p:nvSpPr>
        <p:spPr>
          <a:xfrm>
            <a:off x="674489" y="346770"/>
            <a:ext cx="4145682" cy="352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Business Model &amp; Revenue</a:t>
            </a:r>
            <a:endParaRPr b="0" i="0" sz="2200" u="none" cap="none" strike="noStrike"/>
          </a:p>
        </p:txBody>
      </p:sp>
      <p:pic>
        <p:nvPicPr>
          <p:cNvPr descr="preencoded.png" id="232" name="Google Shape;2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489" y="935906"/>
            <a:ext cx="3759622" cy="37596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489" y="935906"/>
            <a:ext cx="3759622" cy="375962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/>
          <p:nvPr/>
        </p:nvSpPr>
        <p:spPr>
          <a:xfrm>
            <a:off x="4714503" y="1530176"/>
            <a:ext cx="1897707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1100"/>
              <a:buFont typeface="Poppins Light"/>
              <a:buNone/>
            </a:pPr>
            <a:r>
              <a:rPr b="0" i="0" lang="en-US" sz="11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Customer Segments</a:t>
            </a:r>
            <a:endParaRPr b="0" i="0" sz="1100" u="none" cap="none" strike="noStrike"/>
          </a:p>
        </p:txBody>
      </p:sp>
      <p:sp>
        <p:nvSpPr>
          <p:cNvPr id="235" name="Google Shape;235;p20"/>
          <p:cNvSpPr/>
          <p:nvPr/>
        </p:nvSpPr>
        <p:spPr>
          <a:xfrm>
            <a:off x="4714503" y="1796653"/>
            <a:ext cx="3759622" cy="743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Char char="•"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Mid-size enterprises &amp; AI-first startups</a:t>
            </a:r>
            <a:endParaRPr b="0" i="0" sz="850" u="none" cap="none" strike="noStrike"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Char char="•"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CFOs, finance teams &amp; operations leaders</a:t>
            </a:r>
            <a:endParaRPr b="0" i="0" sz="850" u="none" cap="none" strike="noStrike"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Char char="•"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Strategy executives &amp; enterprise consulting firms</a:t>
            </a:r>
            <a:endParaRPr b="0" i="0" sz="850" u="none" cap="none" strike="noStrike"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Char char="•"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Manufacturing &amp; logistics enterprises</a:t>
            </a:r>
            <a:endParaRPr b="0" i="0" sz="850" u="none" cap="none" strike="noStrike"/>
          </a:p>
        </p:txBody>
      </p:sp>
      <p:sp>
        <p:nvSpPr>
          <p:cNvPr id="236" name="Google Shape;236;p20"/>
          <p:cNvSpPr/>
          <p:nvPr/>
        </p:nvSpPr>
        <p:spPr>
          <a:xfrm>
            <a:off x="4714503" y="2630537"/>
            <a:ext cx="18692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1100"/>
              <a:buFont typeface="Poppins Light"/>
              <a:buNone/>
            </a:pPr>
            <a:r>
              <a:rPr b="0" i="0" lang="en-US" sz="11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Key Partners</a:t>
            </a:r>
            <a:endParaRPr b="0" i="0" sz="1100" u="none" cap="none" strike="noStrike"/>
          </a:p>
        </p:txBody>
      </p:sp>
      <p:sp>
        <p:nvSpPr>
          <p:cNvPr id="237" name="Google Shape;237;p20"/>
          <p:cNvSpPr/>
          <p:nvPr/>
        </p:nvSpPr>
        <p:spPr>
          <a:xfrm>
            <a:off x="4714503" y="2897014"/>
            <a:ext cx="3759622" cy="356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Char char="•"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Wolfram, OpenAI, Supabase</a:t>
            </a:r>
            <a:endParaRPr b="0" i="0" sz="850" u="none" cap="none" strike="noStrike"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Char char="•"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n8n, Cloudflare, Vercel</a:t>
            </a:r>
            <a:endParaRPr b="0" i="0" sz="850" u="none" cap="none" strike="noStrike"/>
          </a:p>
        </p:txBody>
      </p:sp>
      <p:sp>
        <p:nvSpPr>
          <p:cNvPr id="238" name="Google Shape;238;p20"/>
          <p:cNvSpPr/>
          <p:nvPr/>
        </p:nvSpPr>
        <p:spPr>
          <a:xfrm>
            <a:off x="4714503" y="3343201"/>
            <a:ext cx="18692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1100"/>
              <a:buFont typeface="Poppins Light"/>
              <a:buNone/>
            </a:pPr>
            <a:r>
              <a:rPr b="0" i="0" lang="en-US" sz="11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Go-to-Market</a:t>
            </a:r>
            <a:endParaRPr b="0" i="0" sz="1100" u="none" cap="none" strike="noStrike"/>
          </a:p>
        </p:txBody>
      </p:sp>
      <p:sp>
        <p:nvSpPr>
          <p:cNvPr id="239" name="Google Shape;239;p20"/>
          <p:cNvSpPr/>
          <p:nvPr/>
        </p:nvSpPr>
        <p:spPr>
          <a:xfrm>
            <a:off x="4714503" y="3609677"/>
            <a:ext cx="3759622" cy="550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Char char="•"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Enterprise sales, LinkedIn outreach, tech conferences</a:t>
            </a:r>
            <a:endParaRPr b="0" i="0" sz="850" u="none" cap="none" strike="noStrike"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Char char="•"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Startup incubators &amp; strategic partnerships</a:t>
            </a:r>
            <a:endParaRPr b="0" i="0" sz="850" u="none" cap="none" strike="noStrike"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Char char="•"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API ecosystem integrations</a:t>
            </a:r>
            <a:endParaRPr b="0" i="0" sz="850" u="none" cap="none" strike="noStrike"/>
          </a:p>
        </p:txBody>
      </p:sp>
      <p:pic>
        <p:nvPicPr>
          <p:cNvPr id="240" name="Google Shape;240;p20" title="Screenshot 2026-05-25 at 11.07.54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4325" y="4809275"/>
            <a:ext cx="1649675" cy="3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465162" y="452438"/>
            <a:ext cx="8638952" cy="4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600"/>
              <a:buFont typeface="Poppins Light"/>
              <a:buNone/>
            </a:pPr>
            <a:r>
              <a:rPr b="0" i="0" lang="en-US" sz="26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Built for Enterprise-Scale Autonomous Intelligence</a:t>
            </a:r>
            <a:endParaRPr b="0" i="0" sz="2600" u="none" cap="none" strike="noStrike"/>
          </a:p>
        </p:txBody>
      </p:sp>
      <p:sp>
        <p:nvSpPr>
          <p:cNvPr id="247" name="Google Shape;247;p21"/>
          <p:cNvSpPr/>
          <p:nvPr/>
        </p:nvSpPr>
        <p:spPr>
          <a:xfrm>
            <a:off x="465162" y="1116881"/>
            <a:ext cx="8670875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 production-grade, composable stack engineered for reliability, scale, and computational depth.</a:t>
            </a:r>
            <a:endParaRPr b="0" i="0" sz="1000" u="none" cap="none" strike="noStrike"/>
          </a:p>
        </p:txBody>
      </p:sp>
      <p:pic>
        <p:nvPicPr>
          <p:cNvPr descr="preencoded.png" id="248" name="Google Shape;2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162" y="1462980"/>
            <a:ext cx="265807" cy="265807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/>
          <p:nvPr/>
        </p:nvSpPr>
        <p:spPr>
          <a:xfrm>
            <a:off x="465162" y="1884536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Poppins Light"/>
              <a:buNone/>
            </a:pPr>
            <a:r>
              <a:rPr b="0" i="0" lang="en-US" sz="13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Frontend</a:t>
            </a:r>
            <a:endParaRPr b="0" i="0" sz="1300" u="none" cap="none" strike="noStrike"/>
          </a:p>
        </p:txBody>
      </p:sp>
      <p:sp>
        <p:nvSpPr>
          <p:cNvPr id="250" name="Google Shape;250;p21"/>
          <p:cNvSpPr/>
          <p:nvPr/>
        </p:nvSpPr>
        <p:spPr>
          <a:xfrm>
            <a:off x="465162" y="2166938"/>
            <a:ext cx="4028926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Next.js 15 · Tailwind CSS · Framer Motion · Tremor Charts</a:t>
            </a:r>
            <a:endParaRPr b="0" i="0" sz="1000" u="none" cap="none" strike="noStrike"/>
          </a:p>
        </p:txBody>
      </p:sp>
      <p:pic>
        <p:nvPicPr>
          <p:cNvPr descr="preencoded.png" id="251" name="Google Shape;25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9837" y="1462980"/>
            <a:ext cx="265807" cy="26580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/>
          <p:nvPr/>
        </p:nvSpPr>
        <p:spPr>
          <a:xfrm>
            <a:off x="4649837" y="1884536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Poppins Light"/>
              <a:buNone/>
            </a:pPr>
            <a:r>
              <a:rPr b="0" i="0" lang="en-US" sz="13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AI Orchestration</a:t>
            </a:r>
            <a:endParaRPr b="0" i="0" sz="1300" u="none" cap="none" strike="noStrike"/>
          </a:p>
        </p:txBody>
      </p:sp>
      <p:sp>
        <p:nvSpPr>
          <p:cNvPr id="253" name="Google Shape;253;p21"/>
          <p:cNvSpPr/>
          <p:nvPr/>
        </p:nvSpPr>
        <p:spPr>
          <a:xfrm>
            <a:off x="4649837" y="2166938"/>
            <a:ext cx="4029001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LangGraph · CrewAI · AutoGen · OpenAI Agents SDK</a:t>
            </a:r>
            <a:endParaRPr b="0" i="0" sz="1000" u="none" cap="none" strike="noStrike"/>
          </a:p>
        </p:txBody>
      </p:sp>
      <p:pic>
        <p:nvPicPr>
          <p:cNvPr descr="preencoded.png" id="254" name="Google Shape;25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162" y="2622054"/>
            <a:ext cx="265807" cy="265807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/>
          <p:nvPr/>
        </p:nvSpPr>
        <p:spPr>
          <a:xfrm>
            <a:off x="465162" y="3043610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Poppins Light"/>
              <a:buNone/>
            </a:pPr>
            <a:r>
              <a:rPr b="0" i="0" lang="en-US" sz="13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Automation Layer</a:t>
            </a:r>
            <a:endParaRPr b="0" i="0" sz="1300" u="none" cap="none" strike="noStrike"/>
          </a:p>
        </p:txBody>
      </p:sp>
      <p:sp>
        <p:nvSpPr>
          <p:cNvPr id="256" name="Google Shape;256;p21"/>
          <p:cNvSpPr/>
          <p:nvPr/>
        </p:nvSpPr>
        <p:spPr>
          <a:xfrm>
            <a:off x="465162" y="3326011"/>
            <a:ext cx="4028926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n8n · Trigger.dev · Temporal.io · Kafka · BullMQ</a:t>
            </a:r>
            <a:endParaRPr b="0" i="0" sz="1000" u="none" cap="none" strike="noStrike"/>
          </a:p>
        </p:txBody>
      </p:sp>
      <p:pic>
        <p:nvPicPr>
          <p:cNvPr descr="preencoded.png" id="257" name="Google Shape;25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9837" y="2622054"/>
            <a:ext cx="265807" cy="265807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/>
          <p:nvPr/>
        </p:nvSpPr>
        <p:spPr>
          <a:xfrm>
            <a:off x="4649837" y="3043610"/>
            <a:ext cx="1695673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Poppins Light"/>
              <a:buNone/>
            </a:pPr>
            <a:r>
              <a:rPr b="0" i="0" lang="en-US" sz="13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Computational Core</a:t>
            </a:r>
            <a:endParaRPr b="0" i="0" sz="1300" u="none" cap="none" strike="noStrike"/>
          </a:p>
        </p:txBody>
      </p:sp>
      <p:sp>
        <p:nvSpPr>
          <p:cNvPr id="259" name="Google Shape;259;p21"/>
          <p:cNvSpPr/>
          <p:nvPr/>
        </p:nvSpPr>
        <p:spPr>
          <a:xfrm>
            <a:off x="4649837" y="3326011"/>
            <a:ext cx="4029001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Wolfram Language · Monte Carlo Engines · Symbolic AI</a:t>
            </a:r>
            <a:endParaRPr b="0" i="0" sz="1000" u="none" cap="none" strike="noStrike"/>
          </a:p>
        </p:txBody>
      </p:sp>
      <p:pic>
        <p:nvPicPr>
          <p:cNvPr descr="preencoded.png" id="260" name="Google Shape;26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5162" y="3781127"/>
            <a:ext cx="265807" cy="26580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/>
          <p:nvPr/>
        </p:nvSpPr>
        <p:spPr>
          <a:xfrm>
            <a:off x="465162" y="4202683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Poppins Light"/>
              <a:buNone/>
            </a:pPr>
            <a:r>
              <a:rPr b="0" i="0" lang="en-US" sz="13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Infrastructure</a:t>
            </a:r>
            <a:endParaRPr b="0" i="0" sz="1300" u="none" cap="none" strike="noStrike"/>
          </a:p>
        </p:txBody>
      </p:sp>
      <p:sp>
        <p:nvSpPr>
          <p:cNvPr id="262" name="Google Shape;262;p21"/>
          <p:cNvSpPr/>
          <p:nvPr/>
        </p:nvSpPr>
        <p:spPr>
          <a:xfrm>
            <a:off x="465162" y="4485084"/>
            <a:ext cx="4028926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Supabase · PostgreSQL · Redis · Pinecone · ClickHouse</a:t>
            </a:r>
            <a:endParaRPr b="0" i="0" sz="1000" u="none" cap="none" strike="noStrike"/>
          </a:p>
        </p:txBody>
      </p:sp>
      <p:pic>
        <p:nvPicPr>
          <p:cNvPr descr="preencoded.png" id="263" name="Google Shape;26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9837" y="3781127"/>
            <a:ext cx="265807" cy="265807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/>
          <p:nvPr/>
        </p:nvSpPr>
        <p:spPr>
          <a:xfrm>
            <a:off x="4649837" y="4202683"/>
            <a:ext cx="2285628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Poppins Light"/>
              <a:buNone/>
            </a:pPr>
            <a:r>
              <a:rPr b="0" i="0" lang="en-US" sz="13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Deployment &amp; Observability</a:t>
            </a:r>
            <a:endParaRPr b="0" i="0" sz="1300" u="none" cap="none" strike="noStrike"/>
          </a:p>
        </p:txBody>
      </p:sp>
      <p:sp>
        <p:nvSpPr>
          <p:cNvPr id="265" name="Google Shape;265;p21"/>
          <p:cNvSpPr/>
          <p:nvPr/>
        </p:nvSpPr>
        <p:spPr>
          <a:xfrm>
            <a:off x="4649837" y="4485084"/>
            <a:ext cx="4029001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Vercel · Docker · Grafana · LangSmith · PostHog</a:t>
            </a:r>
            <a:endParaRPr b="0" i="0" sz="1000" u="none" cap="none" strike="noStrike"/>
          </a:p>
        </p:txBody>
      </p:sp>
      <p:pic>
        <p:nvPicPr>
          <p:cNvPr id="266" name="Google Shape;266;p21" title="Screenshot 2026-05-25 at 11.07.54 A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94325" y="4809275"/>
            <a:ext cx="1649675" cy="3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8103" y="94655"/>
            <a:ext cx="3302794" cy="495419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/>
          <p:nvPr/>
        </p:nvSpPr>
        <p:spPr>
          <a:xfrm>
            <a:off x="441871" y="487784"/>
            <a:ext cx="4831259" cy="78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450"/>
              <a:buFont typeface="Poppins Light"/>
              <a:buNone/>
            </a:pPr>
            <a:r>
              <a:rPr b="0" i="0" lang="en-US" sz="24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Future of Enterprise Intelligence</a:t>
            </a:r>
            <a:endParaRPr b="0" i="0" sz="2450" u="none" cap="none" strike="noStrike"/>
          </a:p>
        </p:txBody>
      </p:sp>
      <p:sp>
        <p:nvSpPr>
          <p:cNvPr id="275" name="Google Shape;275;p22"/>
          <p:cNvSpPr/>
          <p:nvPr/>
        </p:nvSpPr>
        <p:spPr>
          <a:xfrm>
            <a:off x="441871" y="1445493"/>
            <a:ext cx="4831259" cy="381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50"/>
              <a:buFont typeface="Roboto Light"/>
              <a:buNone/>
            </a:pPr>
            <a:r>
              <a:rPr b="0" i="0" lang="en-US" sz="9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Businesses evolved from spreadsheets → dashboards → analytics. The next frontier is </a:t>
            </a:r>
            <a:r>
              <a:rPr b="1" i="0" lang="en-US" sz="9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autonomous intelligence systems</a:t>
            </a:r>
            <a:r>
              <a:rPr b="0" i="0" lang="en-US" sz="9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b="0" i="0" sz="950" u="none" cap="none" strike="noStrike"/>
          </a:p>
        </p:txBody>
      </p:sp>
      <p:sp>
        <p:nvSpPr>
          <p:cNvPr id="276" name="Google Shape;276;p22"/>
          <p:cNvSpPr/>
          <p:nvPr/>
        </p:nvSpPr>
        <p:spPr>
          <a:xfrm>
            <a:off x="441871" y="1953890"/>
            <a:ext cx="4831259" cy="1622896"/>
          </a:xfrm>
          <a:prstGeom prst="roundRect">
            <a:avLst>
              <a:gd fmla="val 3268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446633" y="1958653"/>
            <a:ext cx="2410867" cy="905321"/>
          </a:xfrm>
          <a:prstGeom prst="roundRect">
            <a:avLst>
              <a:gd fmla="val 5858" name="adj"/>
            </a:avLst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572839" y="2084859"/>
            <a:ext cx="1621929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00"/>
              <a:buFont typeface="Poppins Light"/>
              <a:buNone/>
            </a:pPr>
            <a:r>
              <a:rPr b="0" i="0" lang="en-US" sz="12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AI-Native Operations</a:t>
            </a:r>
            <a:endParaRPr b="0" i="0" sz="1200" u="none" cap="none" strike="noStrike"/>
          </a:p>
        </p:txBody>
      </p:sp>
      <p:sp>
        <p:nvSpPr>
          <p:cNvPr id="279" name="Google Shape;279;p22"/>
          <p:cNvSpPr/>
          <p:nvPr/>
        </p:nvSpPr>
        <p:spPr>
          <a:xfrm>
            <a:off x="572839" y="2349550"/>
            <a:ext cx="2158454" cy="381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50"/>
              <a:buFont typeface="Roboto Light"/>
              <a:buNone/>
            </a:pPr>
            <a:r>
              <a:rPr b="0" i="0" lang="en-US" sz="9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Intelligence embedded in every workflow</a:t>
            </a:r>
            <a:endParaRPr b="0" i="0" sz="950" u="none" cap="none" strike="noStrike"/>
          </a:p>
        </p:txBody>
      </p:sp>
      <p:sp>
        <p:nvSpPr>
          <p:cNvPr id="280" name="Google Shape;280;p22"/>
          <p:cNvSpPr/>
          <p:nvPr/>
        </p:nvSpPr>
        <p:spPr>
          <a:xfrm>
            <a:off x="2857500" y="1958653"/>
            <a:ext cx="2410867" cy="905321"/>
          </a:xfrm>
          <a:prstGeom prst="rect">
            <a:avLst/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2"/>
          <p:cNvSpPr/>
          <p:nvPr/>
        </p:nvSpPr>
        <p:spPr>
          <a:xfrm>
            <a:off x="2857500" y="1958653"/>
            <a:ext cx="14288" cy="905321"/>
          </a:xfrm>
          <a:prstGeom prst="roundRect">
            <a:avLst>
              <a:gd fmla="val 37115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2983706" y="2084859"/>
            <a:ext cx="2158454" cy="394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00"/>
              <a:buFont typeface="Poppins Light"/>
              <a:buNone/>
            </a:pPr>
            <a:r>
              <a:rPr b="0" i="0" lang="en-US" sz="12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Realtime Strategic Reasoning</a:t>
            </a:r>
            <a:endParaRPr b="0" i="0" sz="1200" u="none" cap="none" strike="noStrike"/>
          </a:p>
        </p:txBody>
      </p:sp>
      <p:sp>
        <p:nvSpPr>
          <p:cNvPr id="283" name="Google Shape;283;p22"/>
          <p:cNvSpPr/>
          <p:nvPr/>
        </p:nvSpPr>
        <p:spPr>
          <a:xfrm>
            <a:off x="2983706" y="2546821"/>
            <a:ext cx="2158454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50"/>
              <a:buFont typeface="Roboto Light"/>
              <a:buNone/>
            </a:pPr>
            <a:r>
              <a:rPr b="0" i="0" lang="en-US" sz="9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Decisions powered by live computation</a:t>
            </a:r>
            <a:endParaRPr b="0" i="0" sz="950" u="none" cap="none" strike="noStrike"/>
          </a:p>
        </p:txBody>
      </p:sp>
      <p:sp>
        <p:nvSpPr>
          <p:cNvPr id="284" name="Google Shape;284;p22"/>
          <p:cNvSpPr/>
          <p:nvPr/>
        </p:nvSpPr>
        <p:spPr>
          <a:xfrm>
            <a:off x="446633" y="2863974"/>
            <a:ext cx="4821734" cy="708050"/>
          </a:xfrm>
          <a:prstGeom prst="rect">
            <a:avLst/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446633" y="2863974"/>
            <a:ext cx="4821734" cy="14288"/>
          </a:xfrm>
          <a:prstGeom prst="roundRect">
            <a:avLst>
              <a:gd fmla="val 37115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572839" y="2990180"/>
            <a:ext cx="2099816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00"/>
              <a:buFont typeface="Poppins Light"/>
              <a:buNone/>
            </a:pPr>
            <a:r>
              <a:rPr b="0" i="0" lang="en-US" sz="12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Autonomous Infrastructure</a:t>
            </a:r>
            <a:endParaRPr b="0" i="0" sz="1200" u="none" cap="none" strike="noStrike"/>
          </a:p>
        </p:txBody>
      </p:sp>
      <p:sp>
        <p:nvSpPr>
          <p:cNvPr id="287" name="Google Shape;287;p22"/>
          <p:cNvSpPr/>
          <p:nvPr/>
        </p:nvSpPr>
        <p:spPr>
          <a:xfrm>
            <a:off x="572839" y="3254871"/>
            <a:ext cx="4569321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50"/>
              <a:buFont typeface="Roboto Light"/>
              <a:buNone/>
            </a:pPr>
            <a:r>
              <a:rPr b="0" i="0" lang="en-US" sz="9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Systems that think, act, and optimize</a:t>
            </a:r>
            <a:endParaRPr b="0" i="0" sz="950" u="none" cap="none" strike="noStrike"/>
          </a:p>
        </p:txBody>
      </p:sp>
      <p:sp>
        <p:nvSpPr>
          <p:cNvPr id="288" name="Google Shape;288;p22"/>
          <p:cNvSpPr/>
          <p:nvPr/>
        </p:nvSpPr>
        <p:spPr>
          <a:xfrm>
            <a:off x="631254" y="3829794"/>
            <a:ext cx="4641875" cy="381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50"/>
              <a:buFont typeface="Roboto Light"/>
              <a:buNone/>
            </a:pPr>
            <a:r>
              <a:rPr b="0" i="0" lang="en-US" sz="9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"While most AI systems generate answers, Sanktrix computes strategic intelligence. We are building the operating system for autonomous enterprises."</a:t>
            </a:r>
            <a:endParaRPr b="0" i="0" sz="950" u="none" cap="none" strike="noStrike"/>
          </a:p>
        </p:txBody>
      </p:sp>
      <p:sp>
        <p:nvSpPr>
          <p:cNvPr id="289" name="Google Shape;289;p22"/>
          <p:cNvSpPr/>
          <p:nvPr/>
        </p:nvSpPr>
        <p:spPr>
          <a:xfrm>
            <a:off x="441871" y="3703290"/>
            <a:ext cx="14288" cy="634901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441871" y="4464695"/>
            <a:ext cx="5288459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50"/>
              <a:buFont typeface="Roboto Light"/>
              <a:buNone/>
            </a:pPr>
            <a:r>
              <a:rPr b="1" i="0" lang="en-US" sz="9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Karan A Sharma</a:t>
            </a:r>
            <a:r>
              <a:rPr b="0" i="0" lang="en-US" sz="9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 · Sanktrix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